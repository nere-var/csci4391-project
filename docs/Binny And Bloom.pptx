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9" r:id="rId5"/>
    <p:sldId id="260" r:id="rId6"/>
    <p:sldId id="258" r:id="rId7"/>
    <p:sldId id="262" r:id="rId8"/>
    <p:sldId id="266" r:id="rId9"/>
    <p:sldId id="267" r:id="rId10"/>
    <p:sldId id="26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6A9AD-B894-3BC7-663F-D4D15765A10C}" v="6" dt="2026-02-11T05:07:28.208"/>
    <p1510:client id="{4C0AA632-EB57-3177-F650-E845C59C6C0A}" v="25" dt="2026-02-11T05:10:18.793"/>
    <p1510:client id="{68235F68-B438-72F7-AB3F-8795BD1A5CD0}" v="20" dt="2026-02-11T01:20:40.194"/>
    <p1510:client id="{7522F492-EE49-71F7-4478-E120542B7A4B}" v="1" dt="2026-02-11T01:22:19.751"/>
    <p1510:client id="{EF50106E-A0F1-EE83-99F2-B800E5E117D4}" v="4" dt="2026-02-11T21:06:19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M" userId="37000b4f3ffc2491" providerId="LiveId" clId="{CF69C058-A6EA-4E7A-BCF7-057F19E5DE73}"/>
    <pc:docChg chg="custSel addSld delSld modSld">
      <pc:chgData name="Luis M" userId="37000b4f3ffc2491" providerId="LiveId" clId="{CF69C058-A6EA-4E7A-BCF7-057F19E5DE73}" dt="2026-02-11T23:07:48.915" v="377" actId="47"/>
      <pc:docMkLst>
        <pc:docMk/>
      </pc:docMkLst>
      <pc:sldChg chg="delSp modSp new del mod">
        <pc:chgData name="Luis M" userId="37000b4f3ffc2491" providerId="LiveId" clId="{CF69C058-A6EA-4E7A-BCF7-057F19E5DE73}" dt="2026-02-11T23:07:48.915" v="377" actId="47"/>
        <pc:sldMkLst>
          <pc:docMk/>
          <pc:sldMk cId="3516460384" sldId="270"/>
        </pc:sldMkLst>
        <pc:spChg chg="del">
          <ac:chgData name="Luis M" userId="37000b4f3ffc2491" providerId="LiveId" clId="{CF69C058-A6EA-4E7A-BCF7-057F19E5DE73}" dt="2026-02-11T22:14:27.303" v="302" actId="478"/>
          <ac:spMkLst>
            <pc:docMk/>
            <pc:sldMk cId="3516460384" sldId="270"/>
            <ac:spMk id="2" creationId="{2F7CDF60-9762-4570-C50B-1C9250DF4588}"/>
          </ac:spMkLst>
        </pc:spChg>
        <pc:spChg chg="mod">
          <ac:chgData name="Luis M" userId="37000b4f3ffc2491" providerId="LiveId" clId="{CF69C058-A6EA-4E7A-BCF7-057F19E5DE73}" dt="2026-02-11T22:15:13.434" v="376" actId="20577"/>
          <ac:spMkLst>
            <pc:docMk/>
            <pc:sldMk cId="3516460384" sldId="270"/>
            <ac:spMk id="3" creationId="{48228128-880C-413B-DDAC-7EB550288F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6F2F-23D6-6F1A-492C-C83D88C7E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7A384-C86F-817C-806A-5B2B32786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7AB7A-59C6-2ED4-7F9C-BB3DF61F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13EA2-2957-91D0-FE97-9858E24F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5A11-E558-1561-5AB3-C45FDC55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76D6-0971-FC6F-5381-7922CF89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FD6DC-0C16-DD47-4674-89CC75610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89A95-6D14-4521-67B0-048B0664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CDEA-F8D8-B1C4-1D32-FAAECBD6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69A3A-FB7A-8B27-0D77-5BEEDA96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DF75-1B0B-588E-5E68-193F706B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C99E0-0CF8-F24A-C613-4C2FFB5B7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AFAA0-2139-2682-54FA-563A1A4F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87B0-6D76-0F21-F4A0-8219CB8B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2CE36-EB85-D27E-44AF-1211FC6C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3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8C23-093C-2290-7A4C-338ED6BA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DE5E-B18C-08E4-B928-C412870A7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8BEE0-518D-9E33-7048-170E295C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B25C2-281E-0A27-CC47-5296F253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18AEE-4A35-ADA4-3DD7-6EE4152F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D8534-0C27-636B-75D2-97EBFF7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6467-BE9F-D3D9-072A-69991253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8A2ED-8E91-1598-2561-F60BADE8B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40A68-C649-050F-D64A-6688A2D5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7BAEA-6B00-2345-128D-55D8B24DE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CB54E-1DCC-2FFD-F711-5EFD636BE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8D399-31AB-BD56-655D-AF25C279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CABFF-CC8E-AAE2-19D7-FEEC184D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6459C-2E2D-D91E-DD0C-B35C246B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0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43F5-5676-A259-3DEC-B5E97F03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8DFB6-053E-EFEE-6135-2A7097EBC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E9C27-6CFD-234F-F615-E1A3B42C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55CD9-DDC3-713F-1660-D5F561A5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7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6E1B2-3170-3985-A854-56D54CEF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E8CE1-E061-87C8-C708-457F853D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13620-BB55-3B7C-6053-8FD94629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A41B-1D14-4661-B2FC-14A78CE4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8889E-FB3C-9567-ECB1-703EB5F12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0544A-36DF-9663-CB95-0F765D3FB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0A11B-F7B0-321C-C865-F43A50F4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FC216-93B3-23D2-55A6-8F0D1647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0E82A-B5CE-041C-E8FA-239DA9A7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28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57CC-8826-35C4-6190-2B62AA47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20CD95-C234-0C26-BF37-5D289249A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E99A9-E150-07B4-8F75-AC4CB9556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2CDFB-67AA-14AF-B54C-75E48E4F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8AFE7-E146-1A0D-E6D5-2C867FED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F7BA4-A1EC-5F41-1C83-D9965959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1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D481-077A-1A5B-3EB1-7722FBD2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389BA-2277-0FC8-41D0-1CB28F6C1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E7051-ED99-952D-BB1D-4D575073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4713-3227-6933-3E8B-1B483CE8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E1AC2-CE98-82C5-A832-978C1370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BFAA5F-4E1C-FFB8-9520-ED9EB126B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EDA45-D5E1-947A-C3EB-D3483A663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87B0-35F2-1402-F290-AF1C66EB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16F24-5265-2113-B88A-9A81AE04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F686C-5A3E-22CD-8BA4-B9FDB2B2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3E294-191A-0E92-01AF-1D861BE7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4F987-62DE-18DA-232A-CE2A23C4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C9B4-ABAF-E98C-1AFB-A271142E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76C03-3205-C14E-8E62-180602F1D41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B2868-D8B5-BB97-01CC-6FA797E78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0562-7FBB-9F2B-9DBF-748210A4F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7C653-7AFA-D948-AF8C-7ED9B8AE9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5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ky with clouds&#10;&#10;AI-generated content may be incorrect.">
            <a:extLst>
              <a:ext uri="{FF2B5EF4-FFF2-40B4-BE49-F238E27FC236}">
                <a16:creationId xmlns:a16="http://schemas.microsoft.com/office/drawing/2014/main" id="{45CB3899-32D7-B9BA-A27B-4B61E5544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7852" y="-1535052"/>
            <a:ext cx="14057102" cy="794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EAF288-C297-C10F-2AEA-10C4D97A0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244" y="992967"/>
            <a:ext cx="9144000" cy="2387600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49000"/>
                  </a:schemeClr>
                </a:solidFill>
                <a:latin typeface="Papyrus"/>
              </a:rPr>
              <a:t>Binny &amp; Bloom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CF15C-9D32-390A-DDF1-C4BFB421A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509" y="381769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Abigail Rodriguez Vazquez, Emma Whitehead, Jay Vega, Luis Morales, Taja Hicks</a:t>
            </a:r>
          </a:p>
          <a:p>
            <a:r>
              <a:rPr lang="en-US">
                <a:solidFill>
                  <a:schemeClr val="accent2">
                    <a:lumMod val="49000"/>
                  </a:schemeClr>
                </a:solidFill>
                <a:latin typeface="Grandview Display"/>
              </a:rPr>
              <a:t>CSCI 4391 – Spring 2026</a:t>
            </a:r>
          </a:p>
        </p:txBody>
      </p:sp>
      <p:pic>
        <p:nvPicPr>
          <p:cNvPr id="5" name="Picture 4" descr="A cartoon of a plant&#10;&#10;AI-generated content may be incorrect.">
            <a:extLst>
              <a:ext uri="{FF2B5EF4-FFF2-40B4-BE49-F238E27FC236}">
                <a16:creationId xmlns:a16="http://schemas.microsoft.com/office/drawing/2014/main" id="{F36F66AE-8DCC-E08B-6781-8B0E7B458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699" t="14438" r="44489" b="55254"/>
          <a:stretch>
            <a:fillRect/>
          </a:stretch>
        </p:blipFill>
        <p:spPr>
          <a:xfrm>
            <a:off x="295415" y="4528867"/>
            <a:ext cx="2578539" cy="1668114"/>
          </a:xfrm>
          <a:prstGeom prst="rect">
            <a:avLst/>
          </a:prstGeom>
        </p:spPr>
      </p:pic>
      <p:pic>
        <p:nvPicPr>
          <p:cNvPr id="6" name="Picture 5" descr="A grass field with a black background&#10;&#10;AI-generated content may be incorrect.">
            <a:extLst>
              <a:ext uri="{FF2B5EF4-FFF2-40B4-BE49-F238E27FC236}">
                <a16:creationId xmlns:a16="http://schemas.microsoft.com/office/drawing/2014/main" id="{44C9D4BA-120D-D86D-49A4-09DDCB093B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302" r="231"/>
          <a:stretch>
            <a:fillRect/>
          </a:stretch>
        </p:blipFill>
        <p:spPr>
          <a:xfrm>
            <a:off x="0" y="5231856"/>
            <a:ext cx="12206905" cy="3078263"/>
          </a:xfrm>
          <a:prstGeom prst="rect">
            <a:avLst/>
          </a:prstGeom>
        </p:spPr>
      </p:pic>
      <p:pic>
        <p:nvPicPr>
          <p:cNvPr id="7" name="Picture 6" descr="A drawing of a sun&#10;&#10;AI-generated content may be incorrect.">
            <a:extLst>
              <a:ext uri="{FF2B5EF4-FFF2-40B4-BE49-F238E27FC236}">
                <a16:creationId xmlns:a16="http://schemas.microsoft.com/office/drawing/2014/main" id="{106AE357-C3F0-29D8-CD14-8B876E6C8B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8801" y="-1531369"/>
            <a:ext cx="4514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89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6FB7-1DB9-1F6F-4B68-47993BCB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776" y="494521"/>
            <a:ext cx="2191111" cy="793602"/>
          </a:xfrm>
        </p:spPr>
        <p:txBody>
          <a:bodyPr>
            <a:normAutofit fontScale="90000"/>
          </a:bodyPr>
          <a:lstStyle/>
          <a:p>
            <a:b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</a:br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  <a:t>Problem </a:t>
            </a:r>
            <a:b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</a:br>
            <a:endParaRPr lang="en-US">
              <a:solidFill>
                <a:schemeClr val="accent6">
                  <a:lumMod val="76000"/>
                </a:schemeClr>
              </a:solidFill>
              <a:latin typeface="Papyru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F5A3-04E8-0DB4-2C38-0AC80226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98" y="1285036"/>
            <a:ext cx="5282241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Many times, people are left with food waste, whether it be egg-shells or some old vegetables, people tend to just throw them away without a second thought. </a:t>
            </a:r>
            <a:endParaRPr lang="en-US" sz="2400">
              <a:solidFill>
                <a:schemeClr val="accent2">
                  <a:lumMod val="49000"/>
                </a:schemeClr>
              </a:solidFill>
              <a:latin typeface="Aptos"/>
            </a:endParaRPr>
          </a:p>
          <a:p>
            <a:r>
              <a:rPr lang="en-US" sz="2400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Food waste, however, can contribute to greenhouse gas emissions and other environmental challenges that have a substantial impact on mankind.</a:t>
            </a:r>
            <a:endParaRPr lang="en-US" sz="2400">
              <a:solidFill>
                <a:schemeClr val="accent2">
                  <a:lumMod val="49000"/>
                </a:schemeClr>
              </a:solidFill>
            </a:endParaRPr>
          </a:p>
          <a:p>
            <a:endParaRPr lang="en-US">
              <a:solidFill>
                <a:schemeClr val="accent2">
                  <a:lumMod val="49000"/>
                </a:schemeClr>
              </a:solidFill>
              <a:latin typeface="Grandview Display"/>
              <a:ea typeface="Open Sans"/>
              <a:cs typeface="Open Sans"/>
            </a:endParaRPr>
          </a:p>
          <a:p>
            <a:endParaRPr lang="en-US" sz="2600">
              <a:latin typeface="Open Sans"/>
              <a:ea typeface="Open Sans"/>
              <a:cs typeface="Open San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C3C39F-4D27-43EA-CF45-DA68E2A4F08F}"/>
              </a:ext>
            </a:extLst>
          </p:cNvPr>
          <p:cNvSpPr txBox="1">
            <a:spLocks/>
          </p:cNvSpPr>
          <p:nvPr/>
        </p:nvSpPr>
        <p:spPr>
          <a:xfrm>
            <a:off x="6971582" y="891336"/>
            <a:ext cx="3470694" cy="8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  <a:t>Target Users :</a:t>
            </a:r>
          </a:p>
          <a:p>
            <a:endParaRPr lang="en-US">
              <a:latin typeface="Papyrus"/>
              <a:ea typeface="+mj-lt"/>
              <a:cs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2BE93-05AB-F712-47A0-D01691C819BA}"/>
              </a:ext>
            </a:extLst>
          </p:cNvPr>
          <p:cNvSpPr txBox="1"/>
          <p:nvPr/>
        </p:nvSpPr>
        <p:spPr>
          <a:xfrm>
            <a:off x="6570453" y="1430547"/>
            <a:ext cx="5075206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200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Anyone interested in learning how to properly dispose of or recycle food waste.</a:t>
            </a:r>
            <a:endParaRPr lang="en-US" sz="2200">
              <a:solidFill>
                <a:schemeClr val="accent2">
                  <a:lumMod val="49000"/>
                </a:schemeClr>
              </a:solidFill>
              <a:latin typeface="Grandview Display"/>
              <a:ea typeface="+mn-lt"/>
              <a:cs typeface="Courier New"/>
            </a:endParaRPr>
          </a:p>
          <a:p>
            <a:endParaRPr lang="en-US" sz="2200">
              <a:solidFill>
                <a:schemeClr val="accent2">
                  <a:lumMod val="49000"/>
                </a:schemeClr>
              </a:solidFill>
              <a:latin typeface="Grandview Display"/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r>
              <a:rPr lang="en-US" sz="2200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Track expiration dates, and provide locations for donating food (such as shelters, food banks, etc.). </a:t>
            </a:r>
            <a:r>
              <a:rPr lang="en-US" sz="2200">
                <a:solidFill>
                  <a:srgbClr val="000000"/>
                </a:solidFill>
                <a:latin typeface="Grandview Display"/>
                <a:ea typeface="Arial"/>
                <a:cs typeface="Courier New"/>
              </a:rPr>
              <a:t> </a:t>
            </a:r>
            <a:endParaRPr lang="en-US" sz="2800">
              <a:latin typeface="Grandview Display"/>
              <a:cs typeface="Courier New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3FADC4-9F84-54F5-6328-9A60733E4435}"/>
              </a:ext>
            </a:extLst>
          </p:cNvPr>
          <p:cNvSpPr txBox="1">
            <a:spLocks/>
          </p:cNvSpPr>
          <p:nvPr/>
        </p:nvSpPr>
        <p:spPr>
          <a:xfrm>
            <a:off x="4469921" y="48451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</a:br>
            <a:b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</a:br>
            <a:endParaRPr lang="en-US">
              <a:solidFill>
                <a:schemeClr val="accent6">
                  <a:lumMod val="76000"/>
                </a:schemeClr>
              </a:solidFill>
              <a:latin typeface="Papyru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691F3A3-B324-6C16-308E-8151A36508E2}"/>
              </a:ext>
            </a:extLst>
          </p:cNvPr>
          <p:cNvSpPr txBox="1">
            <a:spLocks/>
          </p:cNvSpPr>
          <p:nvPr/>
        </p:nvSpPr>
        <p:spPr>
          <a:xfrm>
            <a:off x="4276881" y="4555070"/>
            <a:ext cx="4505863" cy="161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br>
              <a:rPr lang="en-US" sz="3900">
                <a:latin typeface="Papyrus"/>
                <a:ea typeface="+mj-lt"/>
                <a:cs typeface="+mj-lt"/>
              </a:rPr>
            </a:br>
            <a:r>
              <a:rPr lang="en-US" sz="3900">
                <a:solidFill>
                  <a:schemeClr val="accent6">
                    <a:lumMod val="76000"/>
                  </a:schemeClr>
                </a:solidFill>
                <a:latin typeface="Papyrus"/>
                <a:ea typeface="Open Sans"/>
                <a:cs typeface="Open Sans"/>
              </a:rPr>
              <a:t>Social impact goal</a:t>
            </a:r>
          </a:p>
          <a:p>
            <a:b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</a:br>
            <a:endParaRPr lang="en-US">
              <a:solidFill>
                <a:schemeClr val="accent6">
                  <a:lumMod val="76000"/>
                </a:schemeClr>
              </a:solidFill>
              <a:latin typeface="Papyru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C06A23-60CB-6955-A9B2-BB987DD918FA}"/>
              </a:ext>
            </a:extLst>
          </p:cNvPr>
          <p:cNvSpPr txBox="1">
            <a:spLocks/>
          </p:cNvSpPr>
          <p:nvPr/>
        </p:nvSpPr>
        <p:spPr>
          <a:xfrm>
            <a:off x="3687409" y="5541118"/>
            <a:ext cx="5382882" cy="3071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2">
                    <a:lumMod val="49000"/>
                  </a:schemeClr>
                </a:solidFill>
                <a:latin typeface="Grandview Display"/>
              </a:rPr>
              <a:t>The </a:t>
            </a:r>
            <a:r>
              <a:rPr lang="en-US" sz="2400" err="1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Krusty</a:t>
            </a:r>
            <a:r>
              <a:rPr lang="en-US" sz="2400">
                <a:solidFill>
                  <a:schemeClr val="accent2">
                    <a:lumMod val="49000"/>
                  </a:schemeClr>
                </a:solidFill>
                <a:latin typeface="Grandview Display"/>
                <a:ea typeface="+mn-lt"/>
                <a:cs typeface="+mn-lt"/>
              </a:rPr>
              <a:t> Compost Crew goal is to Help to improve society by reducing waste one at a time.</a:t>
            </a:r>
            <a:endParaRPr lang="en-US" sz="2400">
              <a:solidFill>
                <a:schemeClr val="accent2">
                  <a:lumMod val="49000"/>
                </a:schemeClr>
              </a:solidFill>
              <a:latin typeface="Grandview Display"/>
            </a:endParaRPr>
          </a:p>
          <a:p>
            <a:endParaRPr lang="en-US">
              <a:solidFill>
                <a:schemeClr val="accent2">
                  <a:lumMod val="49000"/>
                </a:schemeClr>
              </a:solidFill>
              <a:latin typeface="Grandview Display"/>
              <a:ea typeface="Open Sans"/>
              <a:cs typeface="Open Sans"/>
            </a:endParaRPr>
          </a:p>
          <a:p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4" name="Picture 13" descr="A green recycle symbol&#10;&#10;AI-generated content may be incorrect.">
            <a:extLst>
              <a:ext uri="{FF2B5EF4-FFF2-40B4-BE49-F238E27FC236}">
                <a16:creationId xmlns:a16="http://schemas.microsoft.com/office/drawing/2014/main" id="{46684556-F97F-151A-7567-2B00C37B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282" y="4083170"/>
            <a:ext cx="2429775" cy="245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6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throwing food into a trash can&#10;&#10;AI-generated content may be incorrect.">
            <a:extLst>
              <a:ext uri="{FF2B5EF4-FFF2-40B4-BE49-F238E27FC236}">
                <a16:creationId xmlns:a16="http://schemas.microsoft.com/office/drawing/2014/main" id="{2CCAAD21-7DD4-5B88-DE4A-0687E470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66" t="7143" r="1126" b="558"/>
          <a:stretch>
            <a:fillRect/>
          </a:stretch>
        </p:blipFill>
        <p:spPr>
          <a:xfrm flipH="1">
            <a:off x="-3569" y="0"/>
            <a:ext cx="3213314" cy="21604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C4BB1B0-F2B5-A821-15BB-65C82DA4897B}"/>
              </a:ext>
            </a:extLst>
          </p:cNvPr>
          <p:cNvSpPr/>
          <p:nvPr/>
        </p:nvSpPr>
        <p:spPr>
          <a:xfrm>
            <a:off x="325581" y="3581399"/>
            <a:ext cx="5243945" cy="23552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90FBC-167D-E823-9958-D17823DAC477}"/>
              </a:ext>
            </a:extLst>
          </p:cNvPr>
          <p:cNvSpPr/>
          <p:nvPr/>
        </p:nvSpPr>
        <p:spPr>
          <a:xfrm>
            <a:off x="6095998" y="1510144"/>
            <a:ext cx="5486399" cy="3837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CC1E4-CB58-39F7-3F49-A51499C38708}"/>
              </a:ext>
            </a:extLst>
          </p:cNvPr>
          <p:cNvSpPr/>
          <p:nvPr/>
        </p:nvSpPr>
        <p:spPr>
          <a:xfrm>
            <a:off x="325581" y="1475509"/>
            <a:ext cx="5243945" cy="19396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38109-213E-5DA8-4959-C0B9502C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143" y="408257"/>
            <a:ext cx="3211903" cy="1296809"/>
          </a:xfrm>
        </p:spPr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Why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FC83-2FF9-E7ED-2E88-22D7057B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45" y="1500043"/>
            <a:ext cx="5209310" cy="3215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Grandview Display"/>
                <a:ea typeface="+mn-lt"/>
                <a:cs typeface="+mn-lt"/>
              </a:rPr>
              <a:t>Composting Guidance</a:t>
            </a:r>
            <a:r>
              <a:rPr lang="en-US" sz="2000">
                <a:latin typeface="Grandview Display"/>
                <a:ea typeface="+mn-lt"/>
                <a:cs typeface="+mn-lt"/>
              </a:rPr>
              <a:t> - Instead of a generic “compost this” AI can give: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Category-specific composting instructions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Warning, such as “don’t compost meat in a backyard bin”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Tips for reducing waste next time</a:t>
            </a:r>
            <a:endParaRPr lang="en-US" sz="2000">
              <a:latin typeface="Grandview Display"/>
            </a:endParaRPr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7EF69B-3140-F187-772A-496B394514C8}"/>
              </a:ext>
            </a:extLst>
          </p:cNvPr>
          <p:cNvSpPr txBox="1">
            <a:spLocks/>
          </p:cNvSpPr>
          <p:nvPr/>
        </p:nvSpPr>
        <p:spPr>
          <a:xfrm>
            <a:off x="367145" y="3578226"/>
            <a:ext cx="5209310" cy="32152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Grandview Display"/>
                <a:ea typeface="+mn-lt"/>
                <a:cs typeface="+mn-lt"/>
              </a:rPr>
              <a:t>Meal suggestions to prevent waste</a:t>
            </a:r>
            <a:r>
              <a:rPr lang="en-US" sz="2000">
                <a:latin typeface="Grandview Display"/>
                <a:ea typeface="+mn-lt"/>
                <a:cs typeface="+mn-lt"/>
              </a:rPr>
              <a:t> - If something is expiring soon, AI can: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Suggest recipes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Use multiple items at once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Filter by dietary preferences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Example suggestion:</a:t>
            </a:r>
            <a:endParaRPr lang="en-US" sz="2000">
              <a:latin typeface="Grandview Display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“Your tomatoes and spinach expire in 2 days. You can make a pasta using both.”</a:t>
            </a:r>
            <a:endParaRPr lang="en-US" sz="2000">
              <a:latin typeface="Grandview Display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614AA8-2E8B-0CB7-572B-4CAF9B10D261}"/>
              </a:ext>
            </a:extLst>
          </p:cNvPr>
          <p:cNvSpPr txBox="1">
            <a:spLocks/>
          </p:cNvSpPr>
          <p:nvPr/>
        </p:nvSpPr>
        <p:spPr>
          <a:xfrm>
            <a:off x="6096001" y="1506970"/>
            <a:ext cx="5489667" cy="22667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Grandview Display"/>
                <a:ea typeface="+mn-lt"/>
                <a:cs typeface="+mn-lt"/>
              </a:rPr>
              <a:t>Donation Eligibility Reasoning</a:t>
            </a:r>
            <a:r>
              <a:rPr lang="en-US" sz="2000">
                <a:latin typeface="Grandview Display"/>
                <a:ea typeface="+mn-lt"/>
                <a:cs typeface="+mn-lt"/>
              </a:rPr>
              <a:t> - Food banks have rules for donations:</a:t>
            </a:r>
            <a:endParaRPr lang="en-US" sz="2000">
              <a:latin typeface="Grandview Display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No opened items</a:t>
            </a:r>
            <a:endParaRPr lang="en-US" sz="2000">
              <a:latin typeface="Grandview Display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No expired items</a:t>
            </a:r>
            <a:endParaRPr lang="en-US" sz="2000">
              <a:latin typeface="Grandview Display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Some accept perishables, some don’t</a:t>
            </a:r>
            <a:endParaRPr lang="en-US" sz="2000">
              <a:latin typeface="Grandview Display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Grandview Display"/>
                <a:ea typeface="+mn-lt"/>
                <a:cs typeface="+mn-lt"/>
              </a:rPr>
              <a:t>Some accept produce only if it’s fresh</a:t>
            </a:r>
            <a:endParaRPr lang="en-US" sz="2000">
              <a:latin typeface="Grandview Displ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9F91C-7540-ED10-2DC8-E8CD0ABE6C5A}"/>
              </a:ext>
            </a:extLst>
          </p:cNvPr>
          <p:cNvSpPr txBox="1"/>
          <p:nvPr/>
        </p:nvSpPr>
        <p:spPr>
          <a:xfrm>
            <a:off x="6095999" y="3373582"/>
            <a:ext cx="548639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Grandview Display"/>
              </a:rPr>
              <a:t>AI is used to sort items for the donations:</a:t>
            </a:r>
            <a:endParaRPr lang="en-US" b="1">
              <a:latin typeface="Grandview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Grandview Display"/>
              </a:rPr>
              <a:t>Item category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Grandview Display"/>
              </a:rPr>
              <a:t>Condition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Grandview Display"/>
              </a:rPr>
              <a:t>Time until expiration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Grandview Display"/>
              </a:rPr>
              <a:t>Donation site policies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Grandview Display"/>
              </a:rPr>
              <a:t>This would be more flexible than hard-coded.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xel art of flowers in pots&#10;&#10;AI-generated content may be incorrect.">
            <a:extLst>
              <a:ext uri="{FF2B5EF4-FFF2-40B4-BE49-F238E27FC236}">
                <a16:creationId xmlns:a16="http://schemas.microsoft.com/office/drawing/2014/main" id="{C1EA89AD-B73D-4406-ADC4-D5988CDC6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622" y="5185284"/>
            <a:ext cx="4845170" cy="2051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62E7B9-C551-44D7-AE78-A9020874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313" y="379502"/>
            <a:ext cx="6216770" cy="1325563"/>
          </a:xfrm>
        </p:spPr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Model / System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A0DBB-D976-DC8D-22DE-3A1D91556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854380"/>
            <a:ext cx="568976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000000"/>
                </a:solidFill>
                <a:latin typeface="Grandview Display"/>
              </a:rPr>
              <a:t>Model (GenAI)</a:t>
            </a:r>
          </a:p>
          <a:p>
            <a:pPr marL="457200" indent="-457200" algn="ctr"/>
            <a:r>
              <a:rPr lang="en-US" sz="2400">
                <a:solidFill>
                  <a:srgbClr val="000000"/>
                </a:solidFill>
                <a:latin typeface="Grandview Display"/>
              </a:rPr>
              <a:t>LLM accessed via the </a:t>
            </a:r>
            <a:r>
              <a:rPr lang="en-US" sz="2400" err="1">
                <a:solidFill>
                  <a:srgbClr val="000000"/>
                </a:solidFill>
                <a:latin typeface="Grandview Display"/>
              </a:rPr>
              <a:t>OpenRouter</a:t>
            </a:r>
            <a:r>
              <a:rPr lang="en-US" sz="2400">
                <a:solidFill>
                  <a:srgbClr val="000000"/>
                </a:solidFill>
                <a:latin typeface="Grandview Display"/>
              </a:rPr>
              <a:t> API</a:t>
            </a:r>
            <a:endParaRPr lang="en-US" sz="2000">
              <a:solidFill>
                <a:srgbClr val="000000"/>
              </a:solidFill>
              <a:latin typeface="Grandview Display"/>
            </a:endParaRPr>
          </a:p>
          <a:p>
            <a:pPr marL="457200" indent="-457200" algn="ctr"/>
            <a:r>
              <a:rPr lang="en-US" sz="2400" err="1">
                <a:solidFill>
                  <a:srgbClr val="000000"/>
                </a:solidFill>
                <a:latin typeface="Grandview Display"/>
              </a:rPr>
              <a:t>OpenRouter</a:t>
            </a:r>
            <a:r>
              <a:rPr lang="en-US" sz="2400">
                <a:solidFill>
                  <a:srgbClr val="000000"/>
                </a:solidFill>
                <a:latin typeface="Grandview Display"/>
              </a:rPr>
              <a:t>/free will </a:t>
            </a:r>
            <a:r>
              <a:rPr lang="en-US" sz="240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automatically pick a free model for LLM usage</a:t>
            </a:r>
            <a:endParaRPr lang="en-US" sz="2400">
              <a:solidFill>
                <a:srgbClr val="000000"/>
              </a:solidFill>
              <a:latin typeface="Grandview Display"/>
            </a:endParaRPr>
          </a:p>
          <a:p>
            <a:pPr marL="457200" indent="-457200" algn="ctr"/>
            <a:r>
              <a:rPr lang="en-US" sz="2400">
                <a:solidFill>
                  <a:srgbClr val="000000"/>
                </a:solidFill>
                <a:latin typeface="Grandview Display"/>
              </a:rPr>
              <a:t>Python to build backend</a:t>
            </a:r>
          </a:p>
          <a:p>
            <a:pPr marL="457200" indent="-457200" algn="ctr"/>
            <a:r>
              <a:rPr lang="en-US" sz="2400">
                <a:solidFill>
                  <a:srgbClr val="000000"/>
                </a:solidFill>
                <a:latin typeface="Grandview Display"/>
              </a:rPr>
              <a:t>SQLite to store food inventory info including names, categories, quantities, best by dates, etc.</a:t>
            </a:r>
          </a:p>
          <a:p>
            <a:pPr marL="457200" indent="-457200" algn="ctr"/>
            <a:endParaRPr lang="en-US" sz="2000">
              <a:latin typeface="Grandview Display"/>
            </a:endParaRPr>
          </a:p>
          <a:p>
            <a:endParaRPr lang="en-US" sz="20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D88638-6E9F-3DD4-69CF-6BECDD3418F3}"/>
              </a:ext>
            </a:extLst>
          </p:cNvPr>
          <p:cNvSpPr txBox="1">
            <a:spLocks/>
          </p:cNvSpPr>
          <p:nvPr/>
        </p:nvSpPr>
        <p:spPr>
          <a:xfrm>
            <a:off x="6094079" y="1859503"/>
            <a:ext cx="567538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000000"/>
                </a:solidFill>
                <a:latin typeface="Grandview Display"/>
              </a:rPr>
              <a:t>Grounding</a:t>
            </a:r>
          </a:p>
          <a:p>
            <a:pPr marL="342900" indent="-342900" algn="ctr"/>
            <a:r>
              <a:rPr lang="en-US">
                <a:solidFill>
                  <a:srgbClr val="000000"/>
                </a:solidFill>
                <a:latin typeface="Grandview Display"/>
              </a:rPr>
              <a:t>Model </a:t>
            </a:r>
            <a:r>
              <a:rPr lang="en-US" b="1">
                <a:solidFill>
                  <a:srgbClr val="000000"/>
                </a:solidFill>
                <a:latin typeface="Grandview Display"/>
              </a:rPr>
              <a:t>will not </a:t>
            </a:r>
            <a:r>
              <a:rPr lang="en-US">
                <a:solidFill>
                  <a:srgbClr val="000000"/>
                </a:solidFill>
                <a:latin typeface="Grandview Display"/>
              </a:rPr>
              <a:t>invent inputs</a:t>
            </a:r>
          </a:p>
          <a:p>
            <a:pPr marL="342900" indent="-342900" algn="ctr"/>
            <a:r>
              <a:rPr lang="en-US">
                <a:solidFill>
                  <a:srgbClr val="000000"/>
                </a:solidFill>
                <a:latin typeface="Grandview Display"/>
              </a:rPr>
              <a:t>Ingredients come only from SQLite database</a:t>
            </a:r>
          </a:p>
          <a:p>
            <a:pPr marL="342900" indent="-342900" algn="ctr"/>
            <a:r>
              <a:rPr lang="en-US">
                <a:solidFill>
                  <a:srgbClr val="000000"/>
                </a:solidFill>
                <a:latin typeface="Grandview Display"/>
              </a:rPr>
              <a:t>Donation locations come from only known APIs</a:t>
            </a:r>
          </a:p>
          <a:p>
            <a:pPr marL="342900" indent="-342900" algn="ctr"/>
            <a:r>
              <a:rPr lang="en-US">
                <a:solidFill>
                  <a:srgbClr val="000000"/>
                </a:solidFill>
                <a:latin typeface="Grandview Display"/>
              </a:rPr>
              <a:t>Expiration urgency is computed only by backend logic</a:t>
            </a:r>
          </a:p>
          <a:p>
            <a:pPr marL="0" indent="0" algn="ctr">
              <a:buNone/>
            </a:pPr>
            <a:endParaRPr lang="en-US" sz="2400" b="1"/>
          </a:p>
          <a:p>
            <a:pPr marL="0" indent="0" algn="ctr">
              <a:buNone/>
            </a:pPr>
            <a:endParaRPr lang="en-US" sz="2400"/>
          </a:p>
          <a:p>
            <a:pPr marL="342900" indent="-342900" algn="ctr"/>
            <a:endParaRPr lang="en-US" sz="2400"/>
          </a:p>
          <a:p>
            <a:pPr marL="0" indent="0" algn="ctr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8879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B3E4-120A-6193-F453-7D3D2117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0B76-7C0D-1764-AA17-D64F0F41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Model / System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0D40-2415-6FB6-B329-10E89946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44" y="1690588"/>
            <a:ext cx="5460997" cy="44960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>
                <a:latin typeface="Grandview Display"/>
              </a:rPr>
              <a:t>Hallucination Mitigation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The model will be constrained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Only for content generation, not decision-making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Prompts will be used so only uses provided ingredients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Avoids food safety or handling advice/nutritional claims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Backend validation so AI output never written directly to database</a:t>
            </a:r>
          </a:p>
          <a:p>
            <a:pPr marL="457200" indent="-457200" algn="ctr"/>
            <a:r>
              <a:rPr lang="en-US" sz="2400">
                <a:latin typeface="Grandview Display"/>
              </a:rPr>
              <a:t>AI output displayed as suggestions and labeled as AI-generated</a:t>
            </a:r>
          </a:p>
          <a:p>
            <a:pPr marL="457200" indent="-457200" algn="ctr"/>
            <a:endParaRPr lang="en-US">
              <a:latin typeface="Grandview Display"/>
            </a:endParaRPr>
          </a:p>
          <a:p>
            <a:pPr marL="457200" indent="-457200" algn="ctr"/>
            <a:endParaRPr lang="en-US" sz="2000"/>
          </a:p>
          <a:p>
            <a:endParaRPr lang="en-US" sz="20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7243FA-0947-AA67-87B0-A7AA9954A35A}"/>
              </a:ext>
            </a:extLst>
          </p:cNvPr>
          <p:cNvSpPr/>
          <p:nvPr/>
        </p:nvSpPr>
        <p:spPr>
          <a:xfrm>
            <a:off x="8040702" y="1698355"/>
            <a:ext cx="2320800" cy="440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Grandview Display"/>
              </a:rPr>
              <a:t>User Interface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6520A4-7F73-2035-AF31-DF8DEF7C5B94}"/>
              </a:ext>
            </a:extLst>
          </p:cNvPr>
          <p:cNvCxnSpPr/>
          <p:nvPr/>
        </p:nvCxnSpPr>
        <p:spPr>
          <a:xfrm>
            <a:off x="9193917" y="2154153"/>
            <a:ext cx="0" cy="499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4DD437-3781-61D0-BF4A-903A0F976742}"/>
              </a:ext>
            </a:extLst>
          </p:cNvPr>
          <p:cNvSpPr/>
          <p:nvPr/>
        </p:nvSpPr>
        <p:spPr>
          <a:xfrm>
            <a:off x="8014871" y="2641167"/>
            <a:ext cx="2320800" cy="440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Grandview Display"/>
              </a:rPr>
              <a:t>Flask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69B6FB-0A37-C633-C051-311197E79A4B}"/>
              </a:ext>
            </a:extLst>
          </p:cNvPr>
          <p:cNvSpPr/>
          <p:nvPr/>
        </p:nvSpPr>
        <p:spPr>
          <a:xfrm>
            <a:off x="7459515" y="4810929"/>
            <a:ext cx="1171342" cy="6469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latin typeface="Grandview Display"/>
              </a:rPr>
              <a:t>OpenRo-uter</a:t>
            </a:r>
            <a:r>
              <a:rPr lang="en-US">
                <a:latin typeface="Grandview Display"/>
              </a:rPr>
              <a:t> API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073301-2F61-09E0-8766-82BF3FB7788E}"/>
              </a:ext>
            </a:extLst>
          </p:cNvPr>
          <p:cNvSpPr/>
          <p:nvPr/>
        </p:nvSpPr>
        <p:spPr>
          <a:xfrm>
            <a:off x="9706768" y="4810929"/>
            <a:ext cx="1248833" cy="6469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Grandview Display"/>
              </a:rPr>
              <a:t>SQLite database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88A0DD-FE57-B690-F21F-55AF290A012B}"/>
              </a:ext>
            </a:extLst>
          </p:cNvPr>
          <p:cNvCxnSpPr/>
          <p:nvPr/>
        </p:nvCxnSpPr>
        <p:spPr>
          <a:xfrm>
            <a:off x="9187953" y="4018835"/>
            <a:ext cx="555286" cy="836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C41880-0E75-7E82-31EA-EBD721F8262C}"/>
              </a:ext>
            </a:extLst>
          </p:cNvPr>
          <p:cNvCxnSpPr/>
          <p:nvPr/>
        </p:nvCxnSpPr>
        <p:spPr>
          <a:xfrm flipH="1">
            <a:off x="8593494" y="4016362"/>
            <a:ext cx="632114" cy="841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A2DDDB-B4E7-89C8-BEAD-102225971434}"/>
              </a:ext>
            </a:extLst>
          </p:cNvPr>
          <p:cNvCxnSpPr/>
          <p:nvPr/>
        </p:nvCxnSpPr>
        <p:spPr>
          <a:xfrm>
            <a:off x="9173871" y="3090627"/>
            <a:ext cx="0" cy="48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987C62-70FB-3634-2440-D5C5F211A117}"/>
              </a:ext>
            </a:extLst>
          </p:cNvPr>
          <p:cNvSpPr/>
          <p:nvPr/>
        </p:nvSpPr>
        <p:spPr>
          <a:xfrm>
            <a:off x="8014871" y="3583981"/>
            <a:ext cx="2320800" cy="4403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Grandview Display"/>
              </a:rPr>
              <a:t>Python Backend</a:t>
            </a:r>
          </a:p>
        </p:txBody>
      </p:sp>
    </p:spTree>
    <p:extLst>
      <p:ext uri="{BB962C8B-B14F-4D97-AF65-F5344CB8AC3E}">
        <p14:creationId xmlns:p14="http://schemas.microsoft.com/office/powerpoint/2010/main" val="294713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7BE3-8AC5-E66F-FF22-187F1375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Data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34E68-53E7-1A28-5E3F-3D3E27DBC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randview Display"/>
              </a:rPr>
              <a:t>Data that will be collected in expiration dates of products, the product in obtained by user.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</a:rPr>
              <a:t>AI will collect recipes and recycles methods for user.</a:t>
            </a:r>
          </a:p>
          <a:p>
            <a:r>
              <a:rPr lang="en-US">
                <a:latin typeface="Grandview Display"/>
              </a:rPr>
              <a:t>User Account: Personal information such as full name, email and password will be encrypted for privacy.</a:t>
            </a:r>
          </a:p>
          <a:p>
            <a:r>
              <a:rPr lang="en-US" dirty="0">
                <a:latin typeface="Grandview Display"/>
              </a:rPr>
              <a:t>If expiration date is detected incorrectly, user will be able to manually input it in.</a:t>
            </a:r>
          </a:p>
        </p:txBody>
      </p:sp>
    </p:spTree>
    <p:extLst>
      <p:ext uri="{BB962C8B-B14F-4D97-AF65-F5344CB8AC3E}">
        <p14:creationId xmlns:p14="http://schemas.microsoft.com/office/powerpoint/2010/main" val="73153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F3BF-4FB3-6692-4CAE-CE75C691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8032-C2D4-DC73-9170-CF1C121F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MVP Scope – Milestone 2 (March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26C8-670D-90FB-C33E-78103E905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408"/>
            <a:ext cx="3516489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>
                <a:latin typeface="Grandview Display"/>
              </a:rPr>
              <a:t>Front-end</a:t>
            </a:r>
            <a:endParaRPr lang="en-US">
              <a:latin typeface="Aptos" panose="02110004020202020204"/>
            </a:endParaRPr>
          </a:p>
          <a:p>
            <a:pPr marL="457200" indent="-457200" algn="ctr"/>
            <a:r>
              <a:rPr lang="en-US">
                <a:latin typeface="Grandview Display"/>
              </a:rPr>
              <a:t>Set up a working website, that displays and returns expected data.</a:t>
            </a:r>
            <a:endParaRPr lang="en-US"/>
          </a:p>
          <a:p>
            <a:pPr marL="457200" indent="-457200" algn="ctr"/>
            <a:r>
              <a:rPr lang="en-US">
                <a:latin typeface="Grandview Display"/>
              </a:rPr>
              <a:t>Make the website immersive, so users are left with an impression.</a:t>
            </a:r>
          </a:p>
          <a:p>
            <a:pPr marL="0" indent="0" algn="ctr">
              <a:buNone/>
            </a:pPr>
            <a:endParaRPr lang="en-US" b="1">
              <a:latin typeface="Grandview Display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C34D388-B647-04E3-D0B6-CA33BCA8B488}"/>
              </a:ext>
            </a:extLst>
          </p:cNvPr>
          <p:cNvSpPr txBox="1">
            <a:spLocks/>
          </p:cNvSpPr>
          <p:nvPr/>
        </p:nvSpPr>
        <p:spPr>
          <a:xfrm>
            <a:off x="4208093" y="1836408"/>
            <a:ext cx="3516489" cy="45206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>
                <a:latin typeface="Grandview Display"/>
              </a:rPr>
              <a:t>Back-end</a:t>
            </a:r>
          </a:p>
          <a:p>
            <a:pPr marL="342900" indent="-342900" algn="ctr"/>
            <a:r>
              <a:rPr lang="en-US">
                <a:latin typeface="Grandview Display"/>
              </a:rPr>
              <a:t>Set up SQLite database</a:t>
            </a:r>
          </a:p>
          <a:p>
            <a:pPr marL="342900" indent="-342900" algn="ctr"/>
            <a:r>
              <a:rPr lang="en-US">
                <a:latin typeface="Grandview Display"/>
              </a:rPr>
              <a:t>Functional basic CRUD operations</a:t>
            </a:r>
          </a:p>
          <a:p>
            <a:pPr marL="342900" indent="-342900" algn="ctr"/>
            <a:r>
              <a:rPr lang="en-US">
                <a:latin typeface="Grandview Display"/>
              </a:rPr>
              <a:t>Implement expiring soon flags to DB </a:t>
            </a:r>
            <a:r>
              <a:rPr lang="en-US" sz="2000">
                <a:latin typeface="Grandview Display"/>
              </a:rPr>
              <a:t>(ex. 3-day threshold for expiration notification)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6370560-7094-B058-322E-FA10B2A907AD}"/>
              </a:ext>
            </a:extLst>
          </p:cNvPr>
          <p:cNvSpPr txBox="1">
            <a:spLocks/>
          </p:cNvSpPr>
          <p:nvPr/>
        </p:nvSpPr>
        <p:spPr>
          <a:xfrm>
            <a:off x="7848334" y="1833586"/>
            <a:ext cx="3506329" cy="491691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0" b="1">
                <a:latin typeface="Grandview Display"/>
              </a:rPr>
              <a:t>AI Integration</a:t>
            </a:r>
          </a:p>
          <a:p>
            <a:pPr marL="457200" indent="-457200" algn="ctr"/>
            <a:r>
              <a:rPr lang="en-US">
                <a:latin typeface="Grandview Display"/>
              </a:rPr>
              <a:t>Set up </a:t>
            </a:r>
            <a:r>
              <a:rPr lang="en-US" err="1">
                <a:latin typeface="Grandview Display"/>
              </a:rPr>
              <a:t>OpenRouter</a:t>
            </a:r>
            <a:r>
              <a:rPr lang="en-US">
                <a:latin typeface="Grandview Display"/>
              </a:rPr>
              <a:t> API </a:t>
            </a:r>
          </a:p>
          <a:p>
            <a:pPr algn="ctr"/>
            <a:r>
              <a:rPr lang="en-US">
                <a:latin typeface="Grandview Display"/>
                <a:ea typeface="+mn-lt"/>
                <a:cs typeface="+mn-lt"/>
              </a:rPr>
              <a:t>Send list of expiring ingredients to the model</a:t>
            </a:r>
            <a:endParaRPr lang="en-US">
              <a:latin typeface="Grandview Display"/>
            </a:endParaRPr>
          </a:p>
          <a:p>
            <a:pPr algn="ctr"/>
            <a:r>
              <a:rPr lang="en-US">
                <a:latin typeface="Grandview Display"/>
                <a:ea typeface="+mn-lt"/>
                <a:cs typeface="+mn-lt"/>
              </a:rPr>
              <a:t>Receive recipe suggestions / friendly alerts / recycling ideas</a:t>
            </a:r>
            <a:endParaRPr lang="en-US">
              <a:latin typeface="Grandview Display"/>
            </a:endParaRPr>
          </a:p>
          <a:p>
            <a:pPr algn="ctr"/>
            <a:r>
              <a:rPr lang="en-US">
                <a:latin typeface="Grandview Display"/>
                <a:ea typeface="+mn-lt"/>
                <a:cs typeface="+mn-lt"/>
              </a:rPr>
              <a:t>Handle API responses safely (check for errors, fallback text if API fails)</a:t>
            </a:r>
            <a:endParaRPr lang="en-US">
              <a:latin typeface="Grandview Display"/>
            </a:endParaRPr>
          </a:p>
          <a:p>
            <a:pPr algn="ctr"/>
            <a:r>
              <a:rPr lang="en-US">
                <a:latin typeface="Grandview Display"/>
                <a:ea typeface="+mn-lt"/>
                <a:cs typeface="+mn-lt"/>
              </a:rPr>
              <a:t>Test LLM output with sample inventory data</a:t>
            </a:r>
            <a:endParaRPr lang="en-US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7507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746F-C402-0542-B6B9-73F1A7D8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  <a:t>Risk &amp; Ethics</a:t>
            </a:r>
            <a:endParaRPr lang="en-US">
              <a:solidFill>
                <a:schemeClr val="accent6">
                  <a:lumMod val="76000"/>
                </a:schemeClr>
              </a:solidFill>
              <a:latin typeface="Papyru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5FB6-D818-0E20-BB58-011E6953A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Grandview Display"/>
                <a:ea typeface="Calibri"/>
                <a:cs typeface="Calibri"/>
              </a:rPr>
              <a:t>Ethical Issues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Privacy – handling user login info, user shopping habits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Bias – AI not recommending meal options for different cultures</a:t>
            </a:r>
          </a:p>
          <a:p>
            <a:pPr marL="457200" lvl="1" indent="0">
              <a:buNone/>
            </a:pPr>
            <a:endParaRPr lang="en-US">
              <a:latin typeface="Grandview Display"/>
              <a:ea typeface="Calibri"/>
              <a:cs typeface="Calibri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Safety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Food Safety – AI providing harmful recommendations</a:t>
            </a:r>
          </a:p>
          <a:p>
            <a:pPr marL="457200" lvl="1" indent="0">
              <a:buNone/>
            </a:pPr>
            <a:endParaRPr lang="en-US">
              <a:latin typeface="Grandview Display"/>
              <a:ea typeface="Calibri"/>
              <a:cs typeface="Calibri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Risks/Misuse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System Errors – recommendation errors, incorrect user input, slow loading time, data loss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Abuse of Data – an attacker gaining unauthorized access to user data </a:t>
            </a:r>
          </a:p>
        </p:txBody>
      </p:sp>
    </p:spTree>
    <p:extLst>
      <p:ext uri="{BB962C8B-B14F-4D97-AF65-F5344CB8AC3E}">
        <p14:creationId xmlns:p14="http://schemas.microsoft.com/office/powerpoint/2010/main" val="405401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EF5F-C7C8-038D-AFA6-D3E67CAB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apyrus"/>
                <a:ea typeface="+mj-lt"/>
                <a:cs typeface="+mj-lt"/>
              </a:rPr>
              <a:t>    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  <a:ea typeface="+mj-lt"/>
                <a:cs typeface="+mj-lt"/>
              </a:rPr>
              <a:t>Success Metrics &amp; Evaluation Plan </a:t>
            </a:r>
            <a:endParaRPr lang="en-US">
              <a:solidFill>
                <a:schemeClr val="accent6">
                  <a:lumMod val="76000"/>
                </a:schemeClr>
              </a:solidFill>
              <a:latin typeface="Aptos Display" panose="0211000402020202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17B6C4-C94F-62CF-358B-87A548110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495877"/>
              </p:ext>
            </p:extLst>
          </p:nvPr>
        </p:nvGraphicFramePr>
        <p:xfrm>
          <a:off x="838200" y="1339897"/>
          <a:ext cx="10561085" cy="47584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4985">
                  <a:extLst>
                    <a:ext uri="{9D8B030D-6E8A-4147-A177-3AD203B41FA5}">
                      <a16:colId xmlns:a16="http://schemas.microsoft.com/office/drawing/2014/main" val="310894186"/>
                    </a:ext>
                  </a:extLst>
                </a:gridCol>
                <a:gridCol w="4187559">
                  <a:extLst>
                    <a:ext uri="{9D8B030D-6E8A-4147-A177-3AD203B41FA5}">
                      <a16:colId xmlns:a16="http://schemas.microsoft.com/office/drawing/2014/main" val="2992306759"/>
                    </a:ext>
                  </a:extLst>
                </a:gridCol>
                <a:gridCol w="4758541">
                  <a:extLst>
                    <a:ext uri="{9D8B030D-6E8A-4147-A177-3AD203B41FA5}">
                      <a16:colId xmlns:a16="http://schemas.microsoft.com/office/drawing/2014/main" val="4066680746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Success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776209"/>
                  </a:ext>
                </a:extLst>
              </a:tr>
              <a:tr h="73508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Functional Correctness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User can add/view food items, expiration logic works, AI suggestions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Verify CRUD operations and expiration detection with test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790526"/>
                  </a:ext>
                </a:extLst>
              </a:tr>
              <a:tr h="73508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AI Output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LLM outputs reference actual inventory items and provide coherent recipes or expiration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Manually review LLM outputs against expected ingredients and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053076"/>
                  </a:ext>
                </a:extLst>
              </a:tr>
              <a:tr h="73508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System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System can handle LLM/API failures without crashing and shows error messages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randview Display"/>
                        </a:rPr>
                        <a:t>Simulate errors and confirm graceful degradation of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46393"/>
                  </a:ext>
                </a:extLst>
              </a:tr>
              <a:tr h="7350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Grandview Display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Grandview Display"/>
                        </a:rPr>
                        <a:t>Inventory actions are near instant, AI responses within reasonable time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057504985"/>
                  </a:ext>
                </a:extLst>
              </a:tr>
              <a:tr h="73508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Grandview Display"/>
                        </a:rPr>
                        <a:t>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Grandview Display"/>
                        </a:rPr>
                        <a:t>User can complete core tasks without instructions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Grandview Display"/>
                        </a:rPr>
                        <a:t>Informal walkthroughs with classmates, friends, or family not working on project to assess ease of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63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58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8A8E-B4A4-702D-DD98-3517A69A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70D6-C38B-14A5-9099-32ACE1F9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Team Roles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C5AFCD-7267-9B23-41E6-CC3C91321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009944"/>
              </p:ext>
            </p:extLst>
          </p:nvPr>
        </p:nvGraphicFramePr>
        <p:xfrm>
          <a:off x="837043" y="1803241"/>
          <a:ext cx="10782915" cy="337423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44460">
                  <a:extLst>
                    <a:ext uri="{9D8B030D-6E8A-4147-A177-3AD203B41FA5}">
                      <a16:colId xmlns:a16="http://schemas.microsoft.com/office/drawing/2014/main" val="2328772349"/>
                    </a:ext>
                  </a:extLst>
                </a:gridCol>
                <a:gridCol w="7438455">
                  <a:extLst>
                    <a:ext uri="{9D8B030D-6E8A-4147-A177-3AD203B41FA5}">
                      <a16:colId xmlns:a16="http://schemas.microsoft.com/office/drawing/2014/main" val="2895498717"/>
                    </a:ext>
                  </a:extLst>
                </a:gridCol>
              </a:tblGrid>
              <a:tr h="114538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Grandview Display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Team Members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>
                          <a:latin typeface="Grandview Display"/>
                        </a:rPr>
                        <a:t>(tentative role assignment)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41838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Luis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53366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Emma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857927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Grandview Display"/>
                        </a:rPr>
                        <a:t>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Grandview Display"/>
                        </a:rPr>
                        <a:t>Taja, Jay, Abby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83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68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F5B2-C5C9-D157-B2A1-7F7256A1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  <a:latin typeface="Papyrus"/>
              </a:rPr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2A8E-B7FD-12CB-78CC-DF51F1280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2486025"/>
            <a:ext cx="2092960" cy="3690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Grandview Display"/>
                <a:ea typeface="+mn-lt"/>
                <a:cs typeface="+mn-lt"/>
              </a:rPr>
              <a:t>Team Formed</a:t>
            </a:r>
          </a:p>
          <a:p>
            <a:endParaRPr lang="en-US" sz="1600">
              <a:highlight>
                <a:srgbClr val="FFFFFF"/>
              </a:highlight>
            </a:endParaRPr>
          </a:p>
          <a:p>
            <a:endParaRPr lang="en-US" sz="1600">
              <a:highlight>
                <a:srgbClr val="FFFFFF"/>
              </a:highlight>
            </a:endParaRPr>
          </a:p>
        </p:txBody>
      </p:sp>
      <p:pic>
        <p:nvPicPr>
          <p:cNvPr id="4" name="Picture 3" descr="A black line with blue text&#10;&#10;AI-generated content may be incorrect.">
            <a:extLst>
              <a:ext uri="{FF2B5EF4-FFF2-40B4-BE49-F238E27FC236}">
                <a16:creationId xmlns:a16="http://schemas.microsoft.com/office/drawing/2014/main" id="{23CF8A33-7CB6-E1B5-EA76-A0522AF5B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455105"/>
            <a:ext cx="11419840" cy="102171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79B071-A1EC-0233-2816-69A6999B6FE6}"/>
              </a:ext>
            </a:extLst>
          </p:cNvPr>
          <p:cNvSpPr txBox="1">
            <a:spLocks/>
          </p:cNvSpPr>
          <p:nvPr/>
        </p:nvSpPr>
        <p:spPr>
          <a:xfrm>
            <a:off x="2443480" y="2486025"/>
            <a:ext cx="2092960" cy="3690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highlight>
                  <a:srgbClr val="FFFFFF"/>
                </a:highlight>
                <a:latin typeface="Grandview Display"/>
                <a:ea typeface="+mn-lt"/>
                <a:cs typeface="+mn-lt"/>
              </a:rPr>
              <a:t>Backend setup</a:t>
            </a:r>
          </a:p>
          <a:p>
            <a:r>
              <a:rPr lang="en-US" sz="1600">
                <a:highlight>
                  <a:srgbClr val="FFFFFF"/>
                </a:highlight>
                <a:latin typeface="Grandview Display"/>
              </a:rPr>
              <a:t>Frontend setup</a:t>
            </a:r>
          </a:p>
          <a:p>
            <a:endParaRPr lang="en-US" sz="1600">
              <a:highlight>
                <a:srgbClr val="FFFFFF"/>
              </a:highlight>
            </a:endParaRPr>
          </a:p>
          <a:p>
            <a:endParaRPr lang="en-US" sz="1600">
              <a:highlight>
                <a:srgbClr val="FFFFFF"/>
              </a:highlight>
            </a:endParaRPr>
          </a:p>
          <a:p>
            <a:endParaRPr lang="en-US" sz="1600">
              <a:highlight>
                <a:srgbClr val="FFFFFF"/>
              </a:highlight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3A7EF3-00E8-9949-567E-D24724D05CF4}"/>
              </a:ext>
            </a:extLst>
          </p:cNvPr>
          <p:cNvSpPr txBox="1">
            <a:spLocks/>
          </p:cNvSpPr>
          <p:nvPr/>
        </p:nvSpPr>
        <p:spPr>
          <a:xfrm>
            <a:off x="5054600" y="2486025"/>
            <a:ext cx="2092960" cy="3690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highlight>
                  <a:srgbClr val="FFFFFF"/>
                </a:highlight>
                <a:latin typeface="Grandview Display"/>
              </a:rPr>
              <a:t>AI integration</a:t>
            </a:r>
          </a:p>
          <a:p>
            <a:r>
              <a:rPr lang="en-US" sz="1600">
                <a:highlight>
                  <a:srgbClr val="FFFFFF"/>
                </a:highlight>
                <a:latin typeface="Grandview Display"/>
              </a:rPr>
              <a:t>Game logic </a:t>
            </a:r>
          </a:p>
          <a:p>
            <a:endParaRPr lang="en-US" sz="1600">
              <a:highlight>
                <a:srgbClr val="FFFFFF"/>
              </a:highlight>
            </a:endParaRPr>
          </a:p>
          <a:p>
            <a:endParaRPr lang="en-US" sz="1600">
              <a:highlight>
                <a:srgbClr val="FFFFFF"/>
              </a:highlight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FBA70A6-2B66-AF27-F8BA-F9AF57CC021D}"/>
              </a:ext>
            </a:extLst>
          </p:cNvPr>
          <p:cNvSpPr txBox="1">
            <a:spLocks/>
          </p:cNvSpPr>
          <p:nvPr/>
        </p:nvSpPr>
        <p:spPr>
          <a:xfrm>
            <a:off x="10221707" y="2474820"/>
            <a:ext cx="1812813" cy="3690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highlight>
                  <a:srgbClr val="FFFFFF"/>
                </a:highlight>
                <a:latin typeface="Grandview Display"/>
              </a:rPr>
              <a:t>All deliverables turned in</a:t>
            </a:r>
          </a:p>
          <a:p>
            <a:endParaRPr lang="en-US" sz="1600">
              <a:highlight>
                <a:srgbClr val="FFFFFF"/>
              </a:highlight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FF014A-72DA-7019-82ED-2A21F984D204}"/>
              </a:ext>
            </a:extLst>
          </p:cNvPr>
          <p:cNvSpPr txBox="1">
            <a:spLocks/>
          </p:cNvSpPr>
          <p:nvPr/>
        </p:nvSpPr>
        <p:spPr>
          <a:xfrm>
            <a:off x="7693063" y="2474819"/>
            <a:ext cx="2451547" cy="3690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highlight>
                  <a:srgbClr val="FFFFFF"/>
                </a:highlight>
                <a:latin typeface="Grandview Display"/>
                <a:ea typeface="+mn-lt"/>
                <a:cs typeface="+mn-lt"/>
              </a:rPr>
              <a:t>Working site with AI recommendations and game integration</a:t>
            </a:r>
            <a:endParaRPr lang="en-US" sz="1600">
              <a:highlight>
                <a:srgbClr val="FFFFFF"/>
              </a:highlight>
              <a:latin typeface="Grandview Display"/>
            </a:endParaRPr>
          </a:p>
          <a:p>
            <a:endParaRPr lang="en-US" sz="1600">
              <a:highlight>
                <a:srgbClr val="FFFFFF"/>
              </a:highlight>
            </a:endParaRPr>
          </a:p>
        </p:txBody>
      </p:sp>
      <p:pic>
        <p:nvPicPr>
          <p:cNvPr id="15" name="Picture 14" descr="A cartoon of a plant&#10;&#10;AI-generated content may be incorrect.">
            <a:extLst>
              <a:ext uri="{FF2B5EF4-FFF2-40B4-BE49-F238E27FC236}">
                <a16:creationId xmlns:a16="http://schemas.microsoft.com/office/drawing/2014/main" id="{41954C6C-DB7D-6884-3ADB-ABDD2C49A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699" t="14438" r="44489" b="55254"/>
          <a:stretch>
            <a:fillRect/>
          </a:stretch>
        </p:blipFill>
        <p:spPr>
          <a:xfrm>
            <a:off x="10134180" y="3817667"/>
            <a:ext cx="2598859" cy="1668114"/>
          </a:xfrm>
          <a:prstGeom prst="rect">
            <a:avLst/>
          </a:prstGeom>
        </p:spPr>
      </p:pic>
      <p:pic>
        <p:nvPicPr>
          <p:cNvPr id="17" name="Picture 16" descr="A grass field with a black background&#10;&#10;AI-generated content may be incorrect.">
            <a:extLst>
              <a:ext uri="{FF2B5EF4-FFF2-40B4-BE49-F238E27FC236}">
                <a16:creationId xmlns:a16="http://schemas.microsoft.com/office/drawing/2014/main" id="{329F3E4B-ED0A-D03E-CFF7-C841239102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302" r="231"/>
          <a:stretch>
            <a:fillRect/>
          </a:stretch>
        </p:blipFill>
        <p:spPr>
          <a:xfrm>
            <a:off x="-70074" y="4906437"/>
            <a:ext cx="12338985" cy="3078263"/>
          </a:xfrm>
          <a:prstGeom prst="rect">
            <a:avLst/>
          </a:prstGeom>
        </p:spPr>
      </p:pic>
      <p:pic>
        <p:nvPicPr>
          <p:cNvPr id="18" name="Picture 17" descr="A logo for a compost crew&#10;&#10;AI-generated content may be incorrect.">
            <a:extLst>
              <a:ext uri="{FF2B5EF4-FFF2-40B4-BE49-F238E27FC236}">
                <a16:creationId xmlns:a16="http://schemas.microsoft.com/office/drawing/2014/main" id="{4D3F212A-FE20-439C-C3C9-66544C780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7662" y="4017307"/>
            <a:ext cx="2924736" cy="29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Grandview Display</vt:lpstr>
      <vt:lpstr>Open Sans</vt:lpstr>
      <vt:lpstr>Papyrus</vt:lpstr>
      <vt:lpstr>Office Theme</vt:lpstr>
      <vt:lpstr>Binny &amp; Bloom </vt:lpstr>
      <vt:lpstr> Problem  </vt:lpstr>
      <vt:lpstr>Why AI</vt:lpstr>
      <vt:lpstr>Model / System Plans</vt:lpstr>
      <vt:lpstr>Model / System Plans</vt:lpstr>
      <vt:lpstr>Data Plan</vt:lpstr>
      <vt:lpstr>MVP Scope – Milestone 2 (March 4)</vt:lpstr>
      <vt:lpstr>Risk &amp; Ethics</vt:lpstr>
      <vt:lpstr>    Success Metrics &amp; Evaluation Plan </vt:lpstr>
      <vt:lpstr>Team Roles </vt:lpstr>
      <vt:lpstr>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Binny &amp; Bloom </dc:title>
  <dc:creator>Abigail Rodriguez Vazquez</dc:creator>
  <cp:lastModifiedBy>Luis M</cp:lastModifiedBy>
  <cp:revision>4</cp:revision>
  <dcterms:created xsi:type="dcterms:W3CDTF">2026-02-07T23:02:56Z</dcterms:created>
  <dcterms:modified xsi:type="dcterms:W3CDTF">2026-02-11T23:07:51Z</dcterms:modified>
</cp:coreProperties>
</file>